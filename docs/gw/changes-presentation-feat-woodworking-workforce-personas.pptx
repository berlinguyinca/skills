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3" name="Rectangle 2"/>
          <p:cNvSpPr/>
          <p:nvPr/>
        </p:nvSpPr>
        <p:spPr>
          <a:xfrm>
            <a:off x="54864" y="0"/>
            <a:ext cx="12136831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Woodworking Workforce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498DB"/>
                </a:solidFill>
                <a:latin typeface="Calibri"/>
              </a:defRPr>
            </a:pPr>
            <a:r>
              <a:t>What Changed &amp;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66160"/>
            <a:ext cx="27432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5A5A6"/>
                </a:solidFill>
                <a:latin typeface="Calibri"/>
              </a:defRPr>
            </a:pPr>
            <a:r>
              <a:t>2026-03-21  |  Branch: feat/woodworking-workforce-personas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9FA"/>
                </a:solidFill>
                <a:latin typeface="Calibri"/>
              </a:defRPr>
            </a:pPr>
            <a:r>
              <a:t>Four new specialist personas for production woodworking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Here's what we added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4495E"/>
                </a:solidFill>
                <a:latin typeface="Calibri"/>
              </a:defRPr>
            </a:pPr>
            <a:r>
              <a:t>•  Four new specialist personas for woodworking &amp; furniture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4495E"/>
                </a:solidFill>
                <a:latin typeface="Calibri"/>
              </a:defRPr>
            </a:pPr>
            <a:r>
              <a:t>•  Complements the existing general Woodworker persona with domain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4495E"/>
                </a:solidFill>
                <a:latin typeface="Calibri"/>
              </a:defRPr>
            </a:pPr>
            <a:r>
              <a:t>•  Covers the full pipeline: design → cutting → assembly → cabinet specialization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03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4495E"/>
                </a:solidFill>
                <a:latin typeface="Calibri"/>
              </a:defRPr>
            </a:pPr>
            <a:r>
              <a:t>•  Each persona brings distinct expertise for structured debate and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The New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468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Cabinet Assembly Expert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1371600" cy="3200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25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95E"/>
                </a:solidFill>
                <a:latin typeface="Calibri"/>
              </a:defRPr>
            </a:pPr>
            <a:r>
              <a:t>Assembly sequences, sub-assembly grouping, carcass-first construction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029200" cy="2468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Furniture Assembly Expert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920240"/>
            <a:ext cx="1371600" cy="3200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95E"/>
                </a:solidFill>
                <a:latin typeface="Calibri"/>
              </a:defRPr>
            </a:pPr>
            <a:r>
              <a:t>Flat-pack design, assembly dependency graphs, hobbyist-friendly sequencing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029200" cy="2468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Industrial Designer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663440"/>
            <a:ext cx="1371600" cy="3200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95E"/>
                </a:solidFill>
                <a:latin typeface="Calibri"/>
              </a:defRPr>
            </a:pPr>
            <a:r>
              <a:t>DFM/DFA principles, standardization, manufacturing 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029200" cy="2468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Production Carpenter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663440"/>
            <a:ext cx="1371600" cy="3200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120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95E"/>
                </a:solidFill>
                <a:latin typeface="Calibri"/>
              </a:defRPr>
            </a:pPr>
            <a:r>
              <a:t>Batch processing, CNC operations, lean manufacturing, waste minimization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Before vs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4572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495E"/>
                </a:solidFill>
                <a:latin typeface="Calibri"/>
              </a:defRPr>
            </a:pPr>
            <a:r>
              <a:t>✗  1 generalist Woodworker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495E"/>
                </a:solidFill>
                <a:latin typeface="Calibri"/>
              </a:defRPr>
            </a:pPr>
            <a:r>
              <a:t>✗  Broad craftsmanship perspective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495E"/>
                </a:solidFill>
                <a:latin typeface="Calibri"/>
              </a:defRPr>
            </a:pPr>
            <a:r>
              <a:t>✗  No production workflow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495E"/>
                </a:solidFill>
                <a:latin typeface="Calibri"/>
              </a:defRPr>
            </a:pPr>
            <a:r>
              <a:t>✗  No DFM/DFA analysis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495E"/>
                </a:solidFill>
                <a:latin typeface="Calibri"/>
              </a:defRPr>
            </a:pPr>
            <a:r>
              <a:t>✗  Limited assembly sequencing depth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029200" cy="4572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495E"/>
                </a:solidFill>
                <a:latin typeface="Calibri"/>
              </a:defRPr>
            </a:pPr>
            <a:r>
              <a:t>✓  5 specialized woodworking personas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06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495E"/>
                </a:solidFill>
                <a:latin typeface="Calibri"/>
              </a:defRPr>
            </a:pPr>
            <a:r>
              <a:t>✓  Full production pipeline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495E"/>
                </a:solidFill>
                <a:latin typeface="Calibri"/>
              </a:defRPr>
            </a:pPr>
            <a:r>
              <a:t>✓  Assembly sequence expertise (2 specialists)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495E"/>
                </a:solidFill>
                <a:latin typeface="Calibri"/>
              </a:defRPr>
            </a:pPr>
            <a:r>
              <a:t>✓  Industrial design &amp; DFM/DFA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495E"/>
                </a:solidFill>
                <a:latin typeface="Calibri"/>
              </a:defRPr>
            </a:pPr>
            <a:r>
              <a:t>✓  Batch production &amp; CNC optimization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52160" y="3200400"/>
            <a:ext cx="457200" cy="36576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3716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Woodworking projects span multiple disciplines. A single generalist persona can't provide the depth needed for production-quality debate and research. These specialists enable structured analysis across the full design-to-production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474720" cy="2560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Deeper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95E"/>
                </a:solidFill>
                <a:latin typeface="Calibri"/>
              </a:defRPr>
            </a:pPr>
            <a:r>
              <a:t>Each persona searches with domain-specific expertise, finding insights a generalist would miss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200400"/>
            <a:ext cx="3474720" cy="2560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Better Debates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95E"/>
                </a:solidFill>
                <a:latin typeface="Calibri"/>
              </a:defRPr>
            </a:pPr>
            <a:r>
              <a:t>Distinct perspectives (design vs production vs assembly) create productive tension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00400"/>
            <a:ext cx="3474720" cy="2560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Full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95E"/>
                </a:solidFill>
                <a:latin typeface="Calibri"/>
              </a:defRPr>
            </a:pPr>
            <a:r>
              <a:t>From initial design constraints through CNC cutting to final cabinet assembly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Impact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498D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Calibri"/>
              </a:defRPr>
            </a:pPr>
            <a:r>
              <a:t>New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5603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Calibri"/>
              </a:defRPr>
            </a:pPr>
            <a:r>
              <a:t>Issues Found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5603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Calibri"/>
              </a:defRPr>
            </a:pPr>
            <a:r>
              <a:t>Fixes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5603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498D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Calibri"/>
              </a:defRPr>
            </a:pPr>
            <a:r>
              <a:t>Files Added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Categories addressed: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22860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Workforce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39" y="4480560"/>
            <a:ext cx="2286000" cy="4114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Woodworking Domain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59" y="4480560"/>
            <a:ext cx="2286000" cy="4114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Team Assembly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3" name="Rectangle 2"/>
          <p:cNvSpPr/>
          <p:nvPr/>
        </p:nvSpPr>
        <p:spPr>
          <a:xfrm>
            <a:off x="54864" y="0"/>
            <a:ext cx="12136831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7AE60"/>
                </a:solidFill>
                <a:latin typeface="Calibri"/>
              </a:defRPr>
            </a:pPr>
            <a:r>
              <a:t>Ready for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498DB"/>
                </a:solidFill>
                <a:latin typeface="Calibri"/>
              </a:defRPr>
            </a:pPr>
            <a:r>
              <a:t>PR #13  |  https://github.com/berlinguyinca/skills/pull/13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Calibri"/>
              </a:defRPr>
            </a:pPr>
            <a:r>
              <a:t>Merge strategy: merge  |  0 review issues  |  4 new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